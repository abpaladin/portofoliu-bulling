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19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564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4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18" Type="http://schemas.openxmlformats.org/officeDocument/2006/relationships/image" Target="../media/image56.png"/><Relationship Id="rId3" Type="http://schemas.openxmlformats.org/officeDocument/2006/relationships/image" Target="../media/image1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17" Type="http://schemas.openxmlformats.org/officeDocument/2006/relationships/image" Target="../media/image55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4.png"/><Relationship Id="rId20" Type="http://schemas.openxmlformats.org/officeDocument/2006/relationships/image" Target="../media/image5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19" Type="http://schemas.openxmlformats.org/officeDocument/2006/relationships/image" Target="../media/image57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png"/><Relationship Id="rId3" Type="http://schemas.openxmlformats.org/officeDocument/2006/relationships/image" Target="../media/image59.png"/><Relationship Id="rId7" Type="http://schemas.openxmlformats.org/officeDocument/2006/relationships/image" Target="../media/image45.png"/><Relationship Id="rId12" Type="http://schemas.openxmlformats.org/officeDocument/2006/relationships/image" Target="../media/image6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11" Type="http://schemas.openxmlformats.org/officeDocument/2006/relationships/image" Target="../media/image66.png"/><Relationship Id="rId5" Type="http://schemas.openxmlformats.org/officeDocument/2006/relationships/image" Target="../media/image61.png"/><Relationship Id="rId15" Type="http://schemas.openxmlformats.org/officeDocument/2006/relationships/image" Target="../media/image70.png"/><Relationship Id="rId10" Type="http://schemas.openxmlformats.org/officeDocument/2006/relationships/image" Target="../media/image65.png"/><Relationship Id="rId4" Type="http://schemas.openxmlformats.org/officeDocument/2006/relationships/image" Target="../media/image60.png"/><Relationship Id="rId9" Type="http://schemas.openxmlformats.org/officeDocument/2006/relationships/image" Target="../media/image64.png"/><Relationship Id="rId14" Type="http://schemas.openxmlformats.org/officeDocument/2006/relationships/image" Target="../media/image6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80.png"/><Relationship Id="rId3" Type="http://schemas.openxmlformats.org/officeDocument/2006/relationships/image" Target="../media/image1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72.png"/><Relationship Id="rId15" Type="http://schemas.openxmlformats.org/officeDocument/2006/relationships/image" Target="../media/image82.png"/><Relationship Id="rId10" Type="http://schemas.openxmlformats.org/officeDocument/2006/relationships/image" Target="../media/image77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Relationship Id="rId14" Type="http://schemas.openxmlformats.org/officeDocument/2006/relationships/image" Target="../media/image8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92.png"/><Relationship Id="rId18" Type="http://schemas.openxmlformats.org/officeDocument/2006/relationships/image" Target="../media/image97.png"/><Relationship Id="rId3" Type="http://schemas.openxmlformats.org/officeDocument/2006/relationships/image" Target="../media/image37.png"/><Relationship Id="rId7" Type="http://schemas.openxmlformats.org/officeDocument/2006/relationships/image" Target="../media/image86.png"/><Relationship Id="rId12" Type="http://schemas.openxmlformats.org/officeDocument/2006/relationships/image" Target="../media/image91.png"/><Relationship Id="rId17" Type="http://schemas.openxmlformats.org/officeDocument/2006/relationships/image" Target="../media/image96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9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png"/><Relationship Id="rId11" Type="http://schemas.openxmlformats.org/officeDocument/2006/relationships/image" Target="../media/image90.png"/><Relationship Id="rId5" Type="http://schemas.openxmlformats.org/officeDocument/2006/relationships/image" Target="../media/image84.png"/><Relationship Id="rId15" Type="http://schemas.openxmlformats.org/officeDocument/2006/relationships/image" Target="../media/image94.png"/><Relationship Id="rId10" Type="http://schemas.openxmlformats.org/officeDocument/2006/relationships/image" Target="../media/image89.png"/><Relationship Id="rId19" Type="http://schemas.openxmlformats.org/officeDocument/2006/relationships/image" Target="../media/image98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Relationship Id="rId14" Type="http://schemas.openxmlformats.org/officeDocument/2006/relationships/image" Target="../media/image9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13" Type="http://schemas.openxmlformats.org/officeDocument/2006/relationships/image" Target="../media/image107.png"/><Relationship Id="rId3" Type="http://schemas.openxmlformats.org/officeDocument/2006/relationships/image" Target="../media/image37.png"/><Relationship Id="rId7" Type="http://schemas.openxmlformats.org/officeDocument/2006/relationships/image" Target="../media/image101.png"/><Relationship Id="rId12" Type="http://schemas.openxmlformats.org/officeDocument/2006/relationships/image" Target="../media/image106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11" Type="http://schemas.openxmlformats.org/officeDocument/2006/relationships/image" Target="../media/image105.png"/><Relationship Id="rId5" Type="http://schemas.openxmlformats.org/officeDocument/2006/relationships/image" Target="../media/image99.png"/><Relationship Id="rId15" Type="http://schemas.openxmlformats.org/officeDocument/2006/relationships/image" Target="../media/image109.png"/><Relationship Id="rId10" Type="http://schemas.openxmlformats.org/officeDocument/2006/relationships/image" Target="../media/image104.png"/><Relationship Id="rId4" Type="http://schemas.openxmlformats.org/officeDocument/2006/relationships/image" Target="../media/image42.png"/><Relationship Id="rId9" Type="http://schemas.openxmlformats.org/officeDocument/2006/relationships/image" Target="../media/image103.png"/><Relationship Id="rId14" Type="http://schemas.openxmlformats.org/officeDocument/2006/relationships/image" Target="../media/image10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13" Type="http://schemas.openxmlformats.org/officeDocument/2006/relationships/image" Target="../media/image120.png"/><Relationship Id="rId3" Type="http://schemas.openxmlformats.org/officeDocument/2006/relationships/image" Target="../media/image1.png"/><Relationship Id="rId7" Type="http://schemas.openxmlformats.org/officeDocument/2006/relationships/image" Target="../media/image114.png"/><Relationship Id="rId12" Type="http://schemas.openxmlformats.org/officeDocument/2006/relationships/image" Target="../media/image1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3.png"/><Relationship Id="rId11" Type="http://schemas.openxmlformats.org/officeDocument/2006/relationships/image" Target="../media/image118.png"/><Relationship Id="rId5" Type="http://schemas.openxmlformats.org/officeDocument/2006/relationships/image" Target="../media/image112.png"/><Relationship Id="rId10" Type="http://schemas.openxmlformats.org/officeDocument/2006/relationships/image" Target="../media/image117.png"/><Relationship Id="rId4" Type="http://schemas.openxmlformats.org/officeDocument/2006/relationships/image" Target="../media/image111.png"/><Relationship Id="rId9" Type="http://schemas.openxmlformats.org/officeDocument/2006/relationships/image" Target="../media/image11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13" Type="http://schemas.openxmlformats.org/officeDocument/2006/relationships/image" Target="../media/image131.png"/><Relationship Id="rId3" Type="http://schemas.openxmlformats.org/officeDocument/2006/relationships/image" Target="../media/image121.png"/><Relationship Id="rId7" Type="http://schemas.openxmlformats.org/officeDocument/2006/relationships/image" Target="../media/image125.png"/><Relationship Id="rId12" Type="http://schemas.openxmlformats.org/officeDocument/2006/relationships/image" Target="../media/image1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4.png"/><Relationship Id="rId11" Type="http://schemas.openxmlformats.org/officeDocument/2006/relationships/image" Target="../media/image129.png"/><Relationship Id="rId5" Type="http://schemas.openxmlformats.org/officeDocument/2006/relationships/image" Target="../media/image123.png"/><Relationship Id="rId10" Type="http://schemas.openxmlformats.org/officeDocument/2006/relationships/image" Target="../media/image128.png"/><Relationship Id="rId4" Type="http://schemas.openxmlformats.org/officeDocument/2006/relationships/image" Target="../media/image122.png"/><Relationship Id="rId9" Type="http://schemas.openxmlformats.org/officeDocument/2006/relationships/image" Target="../media/image1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4225" y="933450"/>
            <a:ext cx="3162300" cy="5924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5975" y="0"/>
            <a:ext cx="2486025" cy="49720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675" y="352425"/>
            <a:ext cx="1390650" cy="1485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5675" y="638175"/>
            <a:ext cx="1200150" cy="1295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4925" y="4924425"/>
            <a:ext cx="1104900" cy="1200150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762000" y="1657945"/>
            <a:ext cx="6810375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DC14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Friendship</a:t>
            </a:r>
            <a:endParaRPr lang="en-US" sz="4800" dirty="0"/>
          </a:p>
        </p:txBody>
      </p:sp>
      <p:sp>
        <p:nvSpPr>
          <p:cNvPr id="10" name="Text 1"/>
          <p:cNvSpPr/>
          <p:nvPr/>
        </p:nvSpPr>
        <p:spPr>
          <a:xfrm>
            <a:off x="762000" y="2412206"/>
            <a:ext cx="6191250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100" i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Thread</a:t>
            </a:r>
            <a:endParaRPr lang="en-US" sz="5100" dirty="0"/>
          </a:p>
        </p:txBody>
      </p:sp>
      <p:sp>
        <p:nvSpPr>
          <p:cNvPr id="11" name="Text 2"/>
          <p:cNvSpPr/>
          <p:nvPr/>
        </p:nvSpPr>
        <p:spPr>
          <a:xfrm>
            <a:off x="762000" y="3395067"/>
            <a:ext cx="6191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DC14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Thread of Friendship: Bilingual Mărțișor</a:t>
            </a:r>
            <a:endParaRPr lang="en-US" sz="2100" dirty="0"/>
          </a:p>
        </p:txBody>
      </p:sp>
      <p:sp>
        <p:nvSpPr>
          <p:cNvPr id="12" name="Text 3"/>
          <p:cNvSpPr/>
          <p:nvPr/>
        </p:nvSpPr>
        <p:spPr>
          <a:xfrm>
            <a:off x="762000" y="4195167"/>
            <a:ext cx="52387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Activity: "The Thread of Friendship: Bilingual Mărțișor"</a:t>
            </a:r>
            <a:endParaRPr lang="en-US" sz="1400" dirty="0"/>
          </a:p>
        </p:txBody>
      </p:sp>
      <p:sp>
        <p:nvSpPr>
          <p:cNvPr id="13" name="Text 4"/>
          <p:cNvSpPr/>
          <p:nvPr/>
        </p:nvSpPr>
        <p:spPr>
          <a:xfrm>
            <a:off x="762000" y="4890492"/>
            <a:ext cx="5238750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14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Language: English</a:t>
            </a:r>
            <a:endParaRPr lang="en-US" sz="1400" dirty="0"/>
          </a:p>
        </p:txBody>
      </p:sp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62875" y="1228725"/>
            <a:ext cx="3886200" cy="5629275"/>
          </a:xfrm>
          <a:prstGeom prst="rect">
            <a:avLst/>
          </a:prstGeom>
        </p:spPr>
      </p:pic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44225" y="942975"/>
            <a:ext cx="1162050" cy="1352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" y="1343025"/>
            <a:ext cx="11525250" cy="170497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225" y="2819400"/>
            <a:ext cx="5924550" cy="3810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6067425"/>
            <a:ext cx="5314950" cy="16192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1225" y="2819400"/>
            <a:ext cx="5924550" cy="3810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96025" y="6067425"/>
            <a:ext cx="5314950" cy="16192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>
            <a:alphaModFix amt="60000"/>
          </a:blip>
          <a:stretch>
            <a:fillRect/>
          </a:stretch>
        </p:blipFill>
        <p:spPr>
          <a:xfrm>
            <a:off x="11420475" y="371475"/>
            <a:ext cx="400050" cy="4000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>
            <a:alphaModFix amt="60000"/>
          </a:blip>
          <a:stretch>
            <a:fillRect/>
          </a:stretch>
        </p:blipFill>
        <p:spPr>
          <a:xfrm>
            <a:off x="371475" y="6086475"/>
            <a:ext cx="400050" cy="400050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571500" y="381000"/>
            <a:ext cx="1104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Salutul</a:t>
            </a:r>
            <a:endParaRPr lang="en-US" sz="4500" dirty="0"/>
          </a:p>
        </p:txBody>
      </p:sp>
      <p:sp>
        <p:nvSpPr>
          <p:cNvPr id="12" name="Text 1"/>
          <p:cNvSpPr/>
          <p:nvPr/>
        </p:nvSpPr>
        <p:spPr>
          <a:xfrm>
            <a:off x="1028700" y="1819275"/>
            <a:ext cx="1123188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355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Elevii din ambele țări se vor saluta și își vor prezenta școala.</a:t>
            </a:r>
            <a:endParaRPr lang="en-US" sz="1500" dirty="0"/>
          </a:p>
        </p:txBody>
      </p:sp>
      <p:pic>
        <p:nvPicPr>
          <p:cNvPr id="13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5666" y="1771650"/>
            <a:ext cx="285750" cy="228600"/>
          </a:xfrm>
          <a:prstGeom prst="rect">
            <a:avLst/>
          </a:prstGeom>
        </p:spPr>
      </p:pic>
      <p:sp>
        <p:nvSpPr>
          <p:cNvPr id="14" name="Text 2"/>
          <p:cNvSpPr/>
          <p:nvPr/>
        </p:nvSpPr>
        <p:spPr>
          <a:xfrm>
            <a:off x="1028700" y="2181225"/>
            <a:ext cx="1123188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728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Žáci z obou zemí se pozdraví a představí svou školu.</a:t>
            </a:r>
            <a:endParaRPr lang="en-US" sz="1500" dirty="0"/>
          </a:p>
        </p:txBody>
      </p:sp>
      <p:pic>
        <p:nvPicPr>
          <p:cNvPr id="15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5191" y="2227489"/>
            <a:ext cx="228600" cy="228600"/>
          </a:xfrm>
          <a:prstGeom prst="rect">
            <a:avLst/>
          </a:prstGeom>
        </p:spPr>
      </p:pic>
      <p:pic>
        <p:nvPicPr>
          <p:cNvPr id="16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6775" y="3409950"/>
            <a:ext cx="590550" cy="590550"/>
          </a:xfrm>
          <a:prstGeom prst="rect">
            <a:avLst/>
          </a:prstGeom>
        </p:spPr>
      </p:pic>
      <p:sp>
        <p:nvSpPr>
          <p:cNvPr id="17" name="Text 3"/>
          <p:cNvSpPr/>
          <p:nvPr/>
        </p:nvSpPr>
        <p:spPr>
          <a:xfrm>
            <a:off x="1600200" y="3552825"/>
            <a:ext cx="107918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355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România</a:t>
            </a:r>
            <a:endParaRPr lang="en-US" sz="1700" dirty="0"/>
          </a:p>
        </p:txBody>
      </p:sp>
      <p:pic>
        <p:nvPicPr>
          <p:cNvPr id="18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6775" y="4210050"/>
            <a:ext cx="400050" cy="400050"/>
          </a:xfrm>
          <a:prstGeom prst="rect">
            <a:avLst/>
          </a:prstGeom>
        </p:spPr>
      </p:pic>
      <p:sp>
        <p:nvSpPr>
          <p:cNvPr id="19" name="Text 4"/>
          <p:cNvSpPr/>
          <p:nvPr/>
        </p:nvSpPr>
        <p:spPr>
          <a:xfrm>
            <a:off x="876300" y="4219575"/>
            <a:ext cx="419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highlight>
                  <a:srgbClr val="E63946"/>
                </a:highlight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Text 5"/>
          <p:cNvSpPr/>
          <p:nvPr/>
        </p:nvSpPr>
        <p:spPr>
          <a:xfrm>
            <a:off x="1400175" y="4238625"/>
            <a:ext cx="124682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6394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Bună ziua!</a:t>
            </a:r>
            <a:endParaRPr lang="en-US" sz="1700" dirty="0"/>
          </a:p>
        </p:txBody>
      </p:sp>
      <p:pic>
        <p:nvPicPr>
          <p:cNvPr id="21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6775" y="4781550"/>
            <a:ext cx="400050" cy="400050"/>
          </a:xfrm>
          <a:prstGeom prst="rect">
            <a:avLst/>
          </a:prstGeom>
        </p:spPr>
      </p:pic>
      <p:sp>
        <p:nvSpPr>
          <p:cNvPr id="22" name="Text 6"/>
          <p:cNvSpPr/>
          <p:nvPr/>
        </p:nvSpPr>
        <p:spPr>
          <a:xfrm>
            <a:off x="876300" y="4791075"/>
            <a:ext cx="419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highlight>
                  <a:srgbClr val="E63946"/>
                </a:highlight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7"/>
          <p:cNvSpPr/>
          <p:nvPr/>
        </p:nvSpPr>
        <p:spPr>
          <a:xfrm>
            <a:off x="1400175" y="4838700"/>
            <a:ext cx="53435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57B9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Hello!</a:t>
            </a:r>
            <a:endParaRPr lang="en-US" sz="1400" dirty="0"/>
          </a:p>
        </p:txBody>
      </p:sp>
      <p:pic>
        <p:nvPicPr>
          <p:cNvPr id="24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6775" y="5353050"/>
            <a:ext cx="400050" cy="400050"/>
          </a:xfrm>
          <a:prstGeom prst="rect">
            <a:avLst/>
          </a:prstGeom>
        </p:spPr>
      </p:pic>
      <p:sp>
        <p:nvSpPr>
          <p:cNvPr id="25" name="Text 8"/>
          <p:cNvSpPr/>
          <p:nvPr/>
        </p:nvSpPr>
        <p:spPr>
          <a:xfrm>
            <a:off x="876300" y="5362575"/>
            <a:ext cx="419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highlight>
                  <a:srgbClr val="E63946"/>
                </a:highlight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9"/>
          <p:cNvSpPr/>
          <p:nvPr/>
        </p:nvSpPr>
        <p:spPr>
          <a:xfrm>
            <a:off x="1400175" y="5410200"/>
            <a:ext cx="266128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355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Prezentarea școlii și a clasei</a:t>
            </a:r>
            <a:endParaRPr lang="en-US" sz="1400" dirty="0"/>
          </a:p>
        </p:txBody>
      </p:sp>
      <p:pic>
        <p:nvPicPr>
          <p:cNvPr id="2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81775" y="3409950"/>
            <a:ext cx="590550" cy="590550"/>
          </a:xfrm>
          <a:prstGeom prst="rect">
            <a:avLst/>
          </a:prstGeom>
        </p:spPr>
      </p:pic>
      <p:sp>
        <p:nvSpPr>
          <p:cNvPr id="28" name="Text 10"/>
          <p:cNvSpPr/>
          <p:nvPr/>
        </p:nvSpPr>
        <p:spPr>
          <a:xfrm>
            <a:off x="7315200" y="3552825"/>
            <a:ext cx="6705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355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Cehia</a:t>
            </a:r>
            <a:endParaRPr lang="en-US" sz="1700" dirty="0"/>
          </a:p>
        </p:txBody>
      </p:sp>
      <p:pic>
        <p:nvPicPr>
          <p:cNvPr id="29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81775" y="4210050"/>
            <a:ext cx="400050" cy="400050"/>
          </a:xfrm>
          <a:prstGeom prst="rect">
            <a:avLst/>
          </a:prstGeom>
        </p:spPr>
      </p:pic>
      <p:sp>
        <p:nvSpPr>
          <p:cNvPr id="30" name="Text 11"/>
          <p:cNvSpPr/>
          <p:nvPr/>
        </p:nvSpPr>
        <p:spPr>
          <a:xfrm>
            <a:off x="6591300" y="4219575"/>
            <a:ext cx="419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highlight>
                  <a:srgbClr val="005EB8"/>
                </a:highlight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400" dirty="0"/>
          </a:p>
        </p:txBody>
      </p:sp>
      <p:sp>
        <p:nvSpPr>
          <p:cNvPr id="31" name="Text 12"/>
          <p:cNvSpPr/>
          <p:nvPr/>
        </p:nvSpPr>
        <p:spPr>
          <a:xfrm>
            <a:off x="7115175" y="4238625"/>
            <a:ext cx="133064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5EB8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Dobrý den!</a:t>
            </a:r>
            <a:endParaRPr lang="en-US" sz="1700" dirty="0"/>
          </a:p>
        </p:txBody>
      </p:sp>
      <p:pic>
        <p:nvPicPr>
          <p:cNvPr id="32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81775" y="4781550"/>
            <a:ext cx="400050" cy="400050"/>
          </a:xfrm>
          <a:prstGeom prst="rect">
            <a:avLst/>
          </a:prstGeom>
        </p:spPr>
      </p:pic>
      <p:sp>
        <p:nvSpPr>
          <p:cNvPr id="33" name="Text 13"/>
          <p:cNvSpPr/>
          <p:nvPr/>
        </p:nvSpPr>
        <p:spPr>
          <a:xfrm>
            <a:off x="6591300" y="4791075"/>
            <a:ext cx="419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highlight>
                  <a:srgbClr val="005EB8"/>
                </a:highlight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400" dirty="0"/>
          </a:p>
        </p:txBody>
      </p:sp>
      <p:sp>
        <p:nvSpPr>
          <p:cNvPr id="34" name="Text 14"/>
          <p:cNvSpPr/>
          <p:nvPr/>
        </p:nvSpPr>
        <p:spPr>
          <a:xfrm>
            <a:off x="7115175" y="4838700"/>
            <a:ext cx="53435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57B9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Hello!</a:t>
            </a:r>
            <a:endParaRPr lang="en-US" sz="1400" dirty="0"/>
          </a:p>
        </p:txBody>
      </p:sp>
      <p:pic>
        <p:nvPicPr>
          <p:cNvPr id="35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81775" y="5353050"/>
            <a:ext cx="400050" cy="400050"/>
          </a:xfrm>
          <a:prstGeom prst="rect">
            <a:avLst/>
          </a:prstGeom>
        </p:spPr>
      </p:pic>
      <p:sp>
        <p:nvSpPr>
          <p:cNvPr id="36" name="Text 15"/>
          <p:cNvSpPr/>
          <p:nvPr/>
        </p:nvSpPr>
        <p:spPr>
          <a:xfrm>
            <a:off x="6591300" y="5362575"/>
            <a:ext cx="419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highlight>
                  <a:srgbClr val="005EB8"/>
                </a:highlight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400" dirty="0"/>
          </a:p>
        </p:txBody>
      </p:sp>
      <p:sp>
        <p:nvSpPr>
          <p:cNvPr id="37" name="Text 16"/>
          <p:cNvSpPr/>
          <p:nvPr/>
        </p:nvSpPr>
        <p:spPr>
          <a:xfrm>
            <a:off x="7115175" y="5410200"/>
            <a:ext cx="236791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355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Představení školy a třídy</a:t>
            </a:r>
            <a:endParaRPr lang="en-US" sz="1400" dirty="0"/>
          </a:p>
        </p:txBody>
      </p:sp>
      <p:pic>
        <p:nvPicPr>
          <p:cNvPr id="38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362325" y="6238875"/>
            <a:ext cx="219075" cy="209550"/>
          </a:xfrm>
          <a:prstGeom prst="rect">
            <a:avLst/>
          </a:prstGeom>
        </p:spPr>
      </p:pic>
      <p:sp>
        <p:nvSpPr>
          <p:cNvPr id="39" name="Text 17"/>
          <p:cNvSpPr/>
          <p:nvPr/>
        </p:nvSpPr>
        <p:spPr>
          <a:xfrm>
            <a:off x="3719512" y="6210300"/>
            <a:ext cx="52282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355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Împreună prin prietenie • Společně skrze přátelství</a:t>
            </a:r>
            <a:endParaRPr lang="en-US" sz="1400" dirty="0"/>
          </a:p>
        </p:txBody>
      </p:sp>
      <p:pic>
        <p:nvPicPr>
          <p:cNvPr id="40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610600" y="6238875"/>
            <a:ext cx="219075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2275" y="371475"/>
            <a:ext cx="1238250" cy="12382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1219200"/>
            <a:ext cx="933450" cy="76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762125"/>
            <a:ext cx="5905500" cy="147637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3343275"/>
            <a:ext cx="5905500" cy="122872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4676775"/>
            <a:ext cx="5905500" cy="122872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58100" y="2257425"/>
            <a:ext cx="3457575" cy="34480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1975" y="6210300"/>
            <a:ext cx="11068050" cy="371475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571500" y="571500"/>
            <a:ext cx="12153900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539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Welcome to </a:t>
            </a:r>
            <a:r>
              <a:rPr lang="en-US" sz="3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3400" b="1" i="1" dirty="0">
                <a:solidFill>
                  <a:srgbClr val="1615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Project!</a:t>
            </a:r>
            <a:endParaRPr lang="en-US" sz="3400" dirty="0"/>
          </a:p>
        </p:txBody>
      </p:sp>
      <p:pic>
        <p:nvPicPr>
          <p:cNvPr id="12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2475" y="1943100"/>
            <a:ext cx="476250" cy="476250"/>
          </a:xfrm>
          <a:prstGeom prst="rect">
            <a:avLst/>
          </a:prstGeom>
        </p:spPr>
      </p:pic>
      <p:sp>
        <p:nvSpPr>
          <p:cNvPr id="13" name="Text 1"/>
          <p:cNvSpPr/>
          <p:nvPr/>
        </p:nvSpPr>
        <p:spPr>
          <a:xfrm>
            <a:off x="762000" y="1952625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3935"/>
                </a:solidFill>
                <a:highlight>
                  <a:srgbClr val="FFEBEE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2"/>
          <p:cNvSpPr/>
          <p:nvPr/>
        </p:nvSpPr>
        <p:spPr>
          <a:xfrm>
            <a:off x="1333500" y="1952625"/>
            <a:ext cx="54021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5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 Bullying Together</a:t>
            </a:r>
            <a:endParaRPr lang="en-US" sz="1400" dirty="0"/>
          </a:p>
        </p:txBody>
      </p:sp>
      <p:sp>
        <p:nvSpPr>
          <p:cNvPr id="15" name="Text 3"/>
          <p:cNvSpPr/>
          <p:nvPr/>
        </p:nvSpPr>
        <p:spPr>
          <a:xfrm>
            <a:off x="1333500" y="2295525"/>
            <a:ext cx="5402134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05A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goal isn't just to learn about what bullying is, but to actively </a:t>
            </a:r>
            <a:r>
              <a:rPr lang="en-US" sz="1100" b="1" dirty="0">
                <a:solidFill>
                  <a:srgbClr val="505A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prevent and stop it</a:t>
            </a:r>
            <a:r>
              <a:rPr lang="en-US" sz="1100" dirty="0">
                <a:solidFill>
                  <a:srgbClr val="505A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We have the power to make our school a safe and happy place!</a:t>
            </a:r>
            <a:endParaRPr lang="en-US" sz="1100" dirty="0"/>
          </a:p>
        </p:txBody>
      </p:sp>
      <p:pic>
        <p:nvPicPr>
          <p:cNvPr id="16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2475" y="3524250"/>
            <a:ext cx="476250" cy="476250"/>
          </a:xfrm>
          <a:prstGeom prst="rect">
            <a:avLst/>
          </a:prstGeom>
        </p:spPr>
      </p:pic>
      <p:sp>
        <p:nvSpPr>
          <p:cNvPr id="17" name="Text 4"/>
          <p:cNvSpPr/>
          <p:nvPr/>
        </p:nvSpPr>
        <p:spPr>
          <a:xfrm>
            <a:off x="762000" y="3533775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3935"/>
                </a:solidFill>
                <a:highlight>
                  <a:srgbClr val="FFEBEE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5"/>
          <p:cNvSpPr/>
          <p:nvPr/>
        </p:nvSpPr>
        <p:spPr>
          <a:xfrm>
            <a:off x="1333500" y="3533775"/>
            <a:ext cx="54021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5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Are All Equal</a:t>
            </a:r>
            <a:endParaRPr lang="en-US" sz="1400" dirty="0"/>
          </a:p>
        </p:txBody>
      </p:sp>
      <p:sp>
        <p:nvSpPr>
          <p:cNvPr id="19" name="Text 6"/>
          <p:cNvSpPr/>
          <p:nvPr/>
        </p:nvSpPr>
        <p:spPr>
          <a:xfrm>
            <a:off x="1333500" y="3876675"/>
            <a:ext cx="5402134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05A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child in the world is equal. No matter how we look or where we come from, </a:t>
            </a:r>
            <a:r>
              <a:rPr lang="en-US" sz="1100" b="1" dirty="0">
                <a:solidFill>
                  <a:srgbClr val="505A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are all children first</a:t>
            </a:r>
            <a:r>
              <a:rPr lang="en-US" sz="1100" dirty="0">
                <a:solidFill>
                  <a:srgbClr val="505A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deserving of love and respect.</a:t>
            </a:r>
            <a:endParaRPr lang="en-US" sz="1100" dirty="0"/>
          </a:p>
        </p:txBody>
      </p:sp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2475" y="4857750"/>
            <a:ext cx="476250" cy="476250"/>
          </a:xfrm>
          <a:prstGeom prst="rect">
            <a:avLst/>
          </a:prstGeom>
        </p:spPr>
      </p:pic>
      <p:sp>
        <p:nvSpPr>
          <p:cNvPr id="21" name="Text 7"/>
          <p:cNvSpPr/>
          <p:nvPr/>
        </p:nvSpPr>
        <p:spPr>
          <a:xfrm>
            <a:off x="762000" y="4867275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3935"/>
                </a:solidFill>
                <a:highlight>
                  <a:srgbClr val="FFEBEE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8"/>
          <p:cNvSpPr/>
          <p:nvPr/>
        </p:nvSpPr>
        <p:spPr>
          <a:xfrm>
            <a:off x="1333500" y="4867275"/>
            <a:ext cx="54021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5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Power of Friendship</a:t>
            </a:r>
            <a:endParaRPr lang="en-US" sz="1400" dirty="0"/>
          </a:p>
        </p:txBody>
      </p:sp>
      <p:sp>
        <p:nvSpPr>
          <p:cNvPr id="23" name="Text 9"/>
          <p:cNvSpPr/>
          <p:nvPr/>
        </p:nvSpPr>
        <p:spPr>
          <a:xfrm>
            <a:off x="1333500" y="5210175"/>
            <a:ext cx="5402134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05A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Friendship is the same for everyone! It brings the exact same </a:t>
            </a:r>
            <a:r>
              <a:rPr lang="en-US" sz="1100" b="1" dirty="0">
                <a:solidFill>
                  <a:srgbClr val="505A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warm, happy feelings</a:t>
            </a:r>
            <a:r>
              <a:rPr lang="en-US" sz="1100" dirty="0">
                <a:solidFill>
                  <a:srgbClr val="505A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 all of our hearts, connecting us like a beautiful thread.</a:t>
            </a:r>
            <a:endParaRPr lang="en-US" sz="1100" dirty="0"/>
          </a:p>
        </p:txBody>
      </p:sp>
      <p:pic>
        <p:nvPicPr>
          <p:cNvPr id="2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15200" y="1914525"/>
            <a:ext cx="3838575" cy="4019550"/>
          </a:xfrm>
          <a:prstGeom prst="rect">
            <a:avLst/>
          </a:prstGeom>
        </p:spPr>
      </p:pic>
      <p:sp>
        <p:nvSpPr>
          <p:cNvPr id="25" name="Text 10"/>
          <p:cNvSpPr/>
          <p:nvPr/>
        </p:nvSpPr>
        <p:spPr>
          <a:xfrm>
            <a:off x="571500" y="6381750"/>
            <a:ext cx="16868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39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Thread of Friendship</a:t>
            </a:r>
            <a:endParaRPr lang="en-US" sz="1000" dirty="0"/>
          </a:p>
        </p:txBody>
      </p:sp>
      <p:sp>
        <p:nvSpPr>
          <p:cNvPr id="26" name="Text 11"/>
          <p:cNvSpPr/>
          <p:nvPr/>
        </p:nvSpPr>
        <p:spPr>
          <a:xfrm>
            <a:off x="11458575" y="6381750"/>
            <a:ext cx="1781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39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000" dirty="0"/>
          </a:p>
        </p:txBody>
      </p:sp>
      <p:pic>
        <p:nvPicPr>
          <p:cNvPr id="27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01350" y="323850"/>
            <a:ext cx="876300" cy="723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>
            <a:alphaModFix amt="15000"/>
          </a:blip>
          <a:stretch>
            <a:fillRect/>
          </a:stretch>
        </p:blipFill>
        <p:spPr>
          <a:xfrm>
            <a:off x="10086975" y="180975"/>
            <a:ext cx="1733550" cy="1733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>
            <a:alphaModFix amt="15000"/>
          </a:blip>
          <a:stretch>
            <a:fillRect/>
          </a:stretch>
        </p:blipFill>
        <p:spPr>
          <a:xfrm>
            <a:off x="276225" y="5038725"/>
            <a:ext cx="1543050" cy="15430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975" y="2771775"/>
            <a:ext cx="628650" cy="6667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975" y="6210300"/>
            <a:ext cx="11068050" cy="371475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571500" y="1833563"/>
            <a:ext cx="45934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CONTENTS</a:t>
            </a:r>
            <a:endParaRPr lang="en-US" sz="1400" dirty="0"/>
          </a:p>
        </p:txBody>
      </p:sp>
      <p:sp>
        <p:nvSpPr>
          <p:cNvPr id="9" name="Text 1"/>
          <p:cNvSpPr/>
          <p:nvPr/>
        </p:nvSpPr>
        <p:spPr>
          <a:xfrm>
            <a:off x="571500" y="2176463"/>
            <a:ext cx="45934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15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Catalog</a:t>
            </a:r>
            <a:endParaRPr lang="en-US" sz="3400" dirty="0"/>
          </a:p>
        </p:txBody>
      </p:sp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4350" y="2990850"/>
            <a:ext cx="1943100" cy="1990725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>
            <a:off x="6271320" y="1309688"/>
            <a:ext cx="588409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615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friendship matters (anti-bullying)</a:t>
            </a:r>
            <a:endParaRPr lang="en-US" sz="1700" dirty="0"/>
          </a:p>
        </p:txBody>
      </p:sp>
      <p:sp>
        <p:nvSpPr>
          <p:cNvPr id="12" name="Text 3"/>
          <p:cNvSpPr/>
          <p:nvPr/>
        </p:nvSpPr>
        <p:spPr>
          <a:xfrm>
            <a:off x="6271320" y="1995487"/>
            <a:ext cx="588409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615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Mărțișor means (legend + colors)</a:t>
            </a:r>
            <a:endParaRPr lang="en-US" sz="1700" dirty="0"/>
          </a:p>
        </p:txBody>
      </p:sp>
      <p:sp>
        <p:nvSpPr>
          <p:cNvPr id="13" name="Text 4"/>
          <p:cNvSpPr/>
          <p:nvPr/>
        </p:nvSpPr>
        <p:spPr>
          <a:xfrm>
            <a:off x="6271320" y="2681288"/>
            <a:ext cx="588409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615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Step-by-step activity plan</a:t>
            </a:r>
            <a:endParaRPr lang="en-US" sz="1700" dirty="0"/>
          </a:p>
        </p:txBody>
      </p:sp>
      <p:sp>
        <p:nvSpPr>
          <p:cNvPr id="14" name="Text 5"/>
          <p:cNvSpPr/>
          <p:nvPr/>
        </p:nvSpPr>
        <p:spPr>
          <a:xfrm>
            <a:off x="6271320" y="3367088"/>
            <a:ext cx="5884099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615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Creative workshop: making the bilingual Mărțișor</a:t>
            </a:r>
            <a:endParaRPr lang="en-US" sz="1700" dirty="0"/>
          </a:p>
        </p:txBody>
      </p:sp>
      <p:sp>
        <p:nvSpPr>
          <p:cNvPr id="15" name="Text 6"/>
          <p:cNvSpPr/>
          <p:nvPr/>
        </p:nvSpPr>
        <p:spPr>
          <a:xfrm>
            <a:off x="6271320" y="4338638"/>
            <a:ext cx="588409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615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Anti-bullying message &amp; digital finale</a:t>
            </a:r>
            <a:endParaRPr lang="en-US" sz="1700" dirty="0"/>
          </a:p>
        </p:txBody>
      </p:sp>
      <p:sp>
        <p:nvSpPr>
          <p:cNvPr id="16" name="Text 7"/>
          <p:cNvSpPr/>
          <p:nvPr/>
        </p:nvSpPr>
        <p:spPr>
          <a:xfrm>
            <a:off x="5867460" y="1309688"/>
            <a:ext cx="4023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200" dirty="0"/>
          </a:p>
        </p:txBody>
      </p:sp>
      <p:sp>
        <p:nvSpPr>
          <p:cNvPr id="17" name="Text 8"/>
          <p:cNvSpPr/>
          <p:nvPr/>
        </p:nvSpPr>
        <p:spPr>
          <a:xfrm>
            <a:off x="5867460" y="1995487"/>
            <a:ext cx="4023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9"/>
          <p:cNvSpPr/>
          <p:nvPr/>
        </p:nvSpPr>
        <p:spPr>
          <a:xfrm>
            <a:off x="5867460" y="2681288"/>
            <a:ext cx="4023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0"/>
          <p:cNvSpPr/>
          <p:nvPr/>
        </p:nvSpPr>
        <p:spPr>
          <a:xfrm>
            <a:off x="5867460" y="3367088"/>
            <a:ext cx="402336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1"/>
          <p:cNvSpPr/>
          <p:nvPr/>
        </p:nvSpPr>
        <p:spPr>
          <a:xfrm>
            <a:off x="5867460" y="4338638"/>
            <a:ext cx="4023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2200" dirty="0"/>
          </a:p>
        </p:txBody>
      </p:sp>
      <p:sp>
        <p:nvSpPr>
          <p:cNvPr id="21" name="Text 12"/>
          <p:cNvSpPr/>
          <p:nvPr/>
        </p:nvSpPr>
        <p:spPr>
          <a:xfrm>
            <a:off x="5867460" y="5024438"/>
            <a:ext cx="4023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2200" dirty="0"/>
          </a:p>
        </p:txBody>
      </p:sp>
      <p:sp>
        <p:nvSpPr>
          <p:cNvPr id="22" name="Text 13"/>
          <p:cNvSpPr/>
          <p:nvPr/>
        </p:nvSpPr>
        <p:spPr>
          <a:xfrm>
            <a:off x="6271320" y="5024438"/>
            <a:ext cx="588409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615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Bilingual vocabulary (RO–CZ)</a:t>
            </a:r>
            <a:endParaRPr lang="en-US" sz="1700" dirty="0"/>
          </a:p>
        </p:txBody>
      </p:sp>
      <p:sp>
        <p:nvSpPr>
          <p:cNvPr id="23" name="Text 14"/>
          <p:cNvSpPr/>
          <p:nvPr/>
        </p:nvSpPr>
        <p:spPr>
          <a:xfrm>
            <a:off x="571500" y="6381750"/>
            <a:ext cx="29022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99AB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Thread of Friendship: Bilingual Mărțișor</a:t>
            </a:r>
            <a:endParaRPr lang="en-US" sz="1000" dirty="0"/>
          </a:p>
        </p:txBody>
      </p:sp>
      <p:sp>
        <p:nvSpPr>
          <p:cNvPr id="24" name="Text 15"/>
          <p:cNvSpPr/>
          <p:nvPr/>
        </p:nvSpPr>
        <p:spPr>
          <a:xfrm>
            <a:off x="11458575" y="6381750"/>
            <a:ext cx="1781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99AB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2275" y="5248275"/>
            <a:ext cx="1238250" cy="12382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63275" y="295275"/>
            <a:ext cx="933450" cy="9334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275" y="5324475"/>
            <a:ext cx="781050" cy="7810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975" y="1285875"/>
            <a:ext cx="781050" cy="76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975" y="3705225"/>
            <a:ext cx="11068050" cy="38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4350" y="3905250"/>
            <a:ext cx="3648075" cy="263842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525" y="5343525"/>
            <a:ext cx="3133725" cy="90487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67200" y="3905250"/>
            <a:ext cx="3657600" cy="263842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24375" y="5343525"/>
            <a:ext cx="3143250" cy="90487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29575" y="3905250"/>
            <a:ext cx="3648075" cy="263842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86750" y="5343525"/>
            <a:ext cx="3133725" cy="90487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1975" y="6591300"/>
            <a:ext cx="11068050" cy="2667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571500" y="571500"/>
            <a:ext cx="121539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Friendship and Anti-Bullying</a:t>
            </a:r>
            <a:endParaRPr lang="en-US" sz="3400" dirty="0"/>
          </a:p>
        </p:txBody>
      </p:sp>
      <p:sp>
        <p:nvSpPr>
          <p:cNvPr id="17" name="Text 1"/>
          <p:cNvSpPr/>
          <p:nvPr/>
        </p:nvSpPr>
        <p:spPr>
          <a:xfrm>
            <a:off x="571500" y="2140744"/>
            <a:ext cx="7837170" cy="78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15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friendship to create a community without bullying.</a:t>
            </a:r>
            <a:endParaRPr lang="en-US" sz="2100" dirty="0"/>
          </a:p>
        </p:txBody>
      </p:sp>
      <p:pic>
        <p:nvPicPr>
          <p:cNvPr id="18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77175" y="1457325"/>
            <a:ext cx="3867150" cy="2247900"/>
          </a:xfrm>
          <a:prstGeom prst="rect">
            <a:avLst/>
          </a:prstGeom>
        </p:spPr>
      </p:pic>
      <p:pic>
        <p:nvPicPr>
          <p:cNvPr id="19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1525" y="4162425"/>
            <a:ext cx="476250" cy="476250"/>
          </a:xfrm>
          <a:prstGeom prst="rect">
            <a:avLst/>
          </a:prstGeom>
        </p:spPr>
      </p:pic>
      <p:sp>
        <p:nvSpPr>
          <p:cNvPr id="20" name="Text 2"/>
          <p:cNvSpPr/>
          <p:nvPr/>
        </p:nvSpPr>
        <p:spPr>
          <a:xfrm>
            <a:off x="1352550" y="4267200"/>
            <a:ext cx="15925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Friendship focus</a:t>
            </a:r>
            <a:endParaRPr lang="en-US" sz="1400" dirty="0"/>
          </a:p>
        </p:txBody>
      </p:sp>
      <p:sp>
        <p:nvSpPr>
          <p:cNvPr id="21" name="Text 3"/>
          <p:cNvSpPr/>
          <p:nvPr/>
        </p:nvSpPr>
        <p:spPr>
          <a:xfrm>
            <a:off x="781050" y="4781550"/>
            <a:ext cx="733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400" dirty="0"/>
          </a:p>
        </p:txBody>
      </p:sp>
      <p:sp>
        <p:nvSpPr>
          <p:cNvPr id="22" name="Text 4"/>
          <p:cNvSpPr/>
          <p:nvPr/>
        </p:nvSpPr>
        <p:spPr>
          <a:xfrm>
            <a:off x="962025" y="4743450"/>
            <a:ext cx="322346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15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"The Thread of Friendship" as a symbol of connection between students</a:t>
            </a:r>
            <a:endParaRPr lang="en-US" sz="1100" dirty="0"/>
          </a:p>
        </p:txBody>
      </p:sp>
      <p:pic>
        <p:nvPicPr>
          <p:cNvPr id="23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1525" y="5467350"/>
            <a:ext cx="3133725" cy="781050"/>
          </a:xfrm>
          <a:prstGeom prst="rect">
            <a:avLst/>
          </a:prstGeom>
        </p:spPr>
      </p:pic>
      <p:pic>
        <p:nvPicPr>
          <p:cNvPr id="24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24375" y="4162425"/>
            <a:ext cx="485775" cy="476250"/>
          </a:xfrm>
          <a:prstGeom prst="rect">
            <a:avLst/>
          </a:prstGeom>
        </p:spPr>
      </p:pic>
      <p:sp>
        <p:nvSpPr>
          <p:cNvPr id="25" name="Text 5"/>
          <p:cNvSpPr/>
          <p:nvPr/>
        </p:nvSpPr>
        <p:spPr>
          <a:xfrm>
            <a:off x="5111651" y="4267200"/>
            <a:ext cx="18335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Anti-bullying focus</a:t>
            </a:r>
            <a:endParaRPr lang="en-US" sz="1400" dirty="0"/>
          </a:p>
        </p:txBody>
      </p:sp>
      <p:sp>
        <p:nvSpPr>
          <p:cNvPr id="26" name="Text 6"/>
          <p:cNvSpPr/>
          <p:nvPr/>
        </p:nvSpPr>
        <p:spPr>
          <a:xfrm>
            <a:off x="4540151" y="4781550"/>
            <a:ext cx="733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400" dirty="0"/>
          </a:p>
        </p:txBody>
      </p:sp>
      <p:sp>
        <p:nvSpPr>
          <p:cNvPr id="27" name="Text 7"/>
          <p:cNvSpPr/>
          <p:nvPr/>
        </p:nvSpPr>
        <p:spPr>
          <a:xfrm>
            <a:off x="4721126" y="4743450"/>
            <a:ext cx="322363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15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"Together against bullying!" as a shared class message</a:t>
            </a:r>
            <a:endParaRPr lang="en-US" sz="1100" dirty="0"/>
          </a:p>
        </p:txBody>
      </p:sp>
      <p:pic>
        <p:nvPicPr>
          <p:cNvPr id="28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24375" y="5467350"/>
            <a:ext cx="3143250" cy="781050"/>
          </a:xfrm>
          <a:prstGeom prst="rect">
            <a:avLst/>
          </a:prstGeom>
        </p:spPr>
      </p:pic>
      <p:pic>
        <p:nvPicPr>
          <p:cNvPr id="29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86750" y="4162425"/>
            <a:ext cx="485775" cy="476250"/>
          </a:xfrm>
          <a:prstGeom prst="rect">
            <a:avLst/>
          </a:prstGeom>
        </p:spPr>
      </p:pic>
      <p:sp>
        <p:nvSpPr>
          <p:cNvPr id="30" name="Text 8"/>
          <p:cNvSpPr/>
          <p:nvPr/>
        </p:nvSpPr>
        <p:spPr>
          <a:xfrm>
            <a:off x="8870900" y="4267200"/>
            <a:ext cx="1885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 as a guide</a:t>
            </a:r>
            <a:endParaRPr lang="en-US" sz="1400" dirty="0"/>
          </a:p>
        </p:txBody>
      </p:sp>
      <p:sp>
        <p:nvSpPr>
          <p:cNvPr id="31" name="Text 9"/>
          <p:cNvSpPr/>
          <p:nvPr/>
        </p:nvSpPr>
        <p:spPr>
          <a:xfrm>
            <a:off x="8299400" y="4781550"/>
            <a:ext cx="733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400" dirty="0"/>
          </a:p>
        </p:txBody>
      </p:sp>
      <p:sp>
        <p:nvSpPr>
          <p:cNvPr id="32" name="Text 10"/>
          <p:cNvSpPr/>
          <p:nvPr/>
        </p:nvSpPr>
        <p:spPr>
          <a:xfrm>
            <a:off x="8480375" y="4743450"/>
            <a:ext cx="322363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15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Mărțișor symbolizes rebirth → "we are reborn" as a kinder community</a:t>
            </a:r>
            <a:endParaRPr lang="en-US" sz="1100" dirty="0"/>
          </a:p>
        </p:txBody>
      </p:sp>
      <p:pic>
        <p:nvPicPr>
          <p:cNvPr id="33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86750" y="5467350"/>
            <a:ext cx="3133725" cy="781050"/>
          </a:xfrm>
          <a:prstGeom prst="rect">
            <a:avLst/>
          </a:prstGeom>
        </p:spPr>
      </p:pic>
      <p:sp>
        <p:nvSpPr>
          <p:cNvPr id="34" name="Text 11"/>
          <p:cNvSpPr/>
          <p:nvPr/>
        </p:nvSpPr>
        <p:spPr>
          <a:xfrm>
            <a:off x="571500" y="6762750"/>
            <a:ext cx="29022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99AB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Thread of Friendship: Bilingual Mărțișor</a:t>
            </a:r>
            <a:endParaRPr lang="en-US" sz="1000" dirty="0"/>
          </a:p>
        </p:txBody>
      </p:sp>
      <p:sp>
        <p:nvSpPr>
          <p:cNvPr id="35" name="Text 12"/>
          <p:cNvSpPr/>
          <p:nvPr/>
        </p:nvSpPr>
        <p:spPr>
          <a:xfrm>
            <a:off x="11458575" y="6762750"/>
            <a:ext cx="1781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5" y="371475"/>
            <a:ext cx="1238250" cy="12382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2275" y="5248275"/>
            <a:ext cx="1238250" cy="1238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6475" y="752475"/>
            <a:ext cx="1543050" cy="15430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4867275"/>
            <a:ext cx="1238250" cy="12382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975" y="1285875"/>
            <a:ext cx="781050" cy="76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7675" y="1619250"/>
            <a:ext cx="5619750" cy="3009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4575" y="1619250"/>
            <a:ext cx="5619750" cy="3009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1975" y="4695825"/>
            <a:ext cx="11068050" cy="1143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1975" y="6210300"/>
            <a:ext cx="11068050" cy="371475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571500" y="571500"/>
            <a:ext cx="121539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Mărțișor: Meaning Through Colors</a:t>
            </a:r>
            <a:endParaRPr lang="en-US" sz="3400" dirty="0"/>
          </a:p>
        </p:txBody>
      </p:sp>
      <p:pic>
        <p:nvPicPr>
          <p:cNvPr id="14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00625" y="1905000"/>
            <a:ext cx="781050" cy="790575"/>
          </a:xfrm>
          <a:prstGeom prst="rect">
            <a:avLst/>
          </a:prstGeom>
        </p:spPr>
      </p:pic>
      <p:sp>
        <p:nvSpPr>
          <p:cNvPr id="15" name="Text 1"/>
          <p:cNvSpPr/>
          <p:nvPr/>
        </p:nvSpPr>
        <p:spPr>
          <a:xfrm>
            <a:off x="895350" y="2072878"/>
            <a:ext cx="51968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Moldovan contribution</a:t>
            </a:r>
            <a:endParaRPr lang="en-US" sz="1700" dirty="0"/>
          </a:p>
        </p:txBody>
      </p:sp>
      <p:sp>
        <p:nvSpPr>
          <p:cNvPr id="16" name="Text 2"/>
          <p:cNvSpPr/>
          <p:nvPr/>
        </p:nvSpPr>
        <p:spPr>
          <a:xfrm>
            <a:off x="895350" y="2606278"/>
            <a:ext cx="519684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15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 the Mărtișor legend (Spring vs Winter)</a:t>
            </a:r>
            <a:endParaRPr lang="en-US" sz="1200" dirty="0"/>
          </a:p>
        </p:txBody>
      </p:sp>
      <p:pic>
        <p:nvPicPr>
          <p:cNvPr id="17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5825" y="3019425"/>
            <a:ext cx="628650" cy="638175"/>
          </a:xfrm>
          <a:prstGeom prst="rect">
            <a:avLst/>
          </a:prstGeom>
        </p:spPr>
      </p:pic>
      <p:pic>
        <p:nvPicPr>
          <p:cNvPr id="18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77525" y="1905000"/>
            <a:ext cx="781050" cy="790575"/>
          </a:xfrm>
          <a:prstGeom prst="rect">
            <a:avLst/>
          </a:prstGeom>
        </p:spPr>
      </p:pic>
      <p:sp>
        <p:nvSpPr>
          <p:cNvPr id="19" name="Text 3"/>
          <p:cNvSpPr/>
          <p:nvPr/>
        </p:nvSpPr>
        <p:spPr>
          <a:xfrm>
            <a:off x="6572250" y="2072878"/>
            <a:ext cx="51968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Czech contribution</a:t>
            </a:r>
            <a:endParaRPr lang="en-US" sz="1700" dirty="0"/>
          </a:p>
        </p:txBody>
      </p:sp>
      <p:sp>
        <p:nvSpPr>
          <p:cNvPr id="20" name="Text 4"/>
          <p:cNvSpPr/>
          <p:nvPr/>
        </p:nvSpPr>
        <p:spPr>
          <a:xfrm>
            <a:off x="6572250" y="2606278"/>
            <a:ext cx="519684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White</a:t>
            </a:r>
            <a:r>
              <a:rPr lang="en-US" sz="1200" dirty="0">
                <a:solidFill>
                  <a:srgbClr val="1615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= purity / peace</a:t>
            </a:r>
            <a:endParaRPr lang="en-US" sz="1200" dirty="0"/>
          </a:p>
        </p:txBody>
      </p:sp>
      <p:sp>
        <p:nvSpPr>
          <p:cNvPr id="21" name="Text 5"/>
          <p:cNvSpPr/>
          <p:nvPr/>
        </p:nvSpPr>
        <p:spPr>
          <a:xfrm>
            <a:off x="6572250" y="3037284"/>
            <a:ext cx="519684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</a:t>
            </a:r>
            <a:r>
              <a:rPr lang="en-US" sz="1200" dirty="0">
                <a:solidFill>
                  <a:srgbClr val="1615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= courage / blood spilled for freedom</a:t>
            </a:r>
            <a:endParaRPr lang="en-US" sz="1200" dirty="0"/>
          </a:p>
        </p:txBody>
      </p:sp>
      <p:pic>
        <p:nvPicPr>
          <p:cNvPr id="22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62725" y="3457575"/>
            <a:ext cx="628650" cy="638175"/>
          </a:xfrm>
          <a:prstGeom prst="rect">
            <a:avLst/>
          </a:prstGeom>
        </p:spPr>
      </p:pic>
      <p:pic>
        <p:nvPicPr>
          <p:cNvPr id="23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448925" y="4791075"/>
            <a:ext cx="933450" cy="942975"/>
          </a:xfrm>
          <a:prstGeom prst="rect">
            <a:avLst/>
          </a:prstGeom>
        </p:spPr>
      </p:pic>
      <p:sp>
        <p:nvSpPr>
          <p:cNvPr id="24" name="Text 6"/>
          <p:cNvSpPr/>
          <p:nvPr/>
        </p:nvSpPr>
        <p:spPr>
          <a:xfrm>
            <a:off x="819150" y="4954191"/>
            <a:ext cx="116090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Connection point</a:t>
            </a:r>
            <a:endParaRPr lang="en-US" sz="1400" dirty="0"/>
          </a:p>
        </p:txBody>
      </p:sp>
      <p:sp>
        <p:nvSpPr>
          <p:cNvPr id="25" name="Text 7"/>
          <p:cNvSpPr/>
          <p:nvPr/>
        </p:nvSpPr>
        <p:spPr>
          <a:xfrm>
            <a:off x="819150" y="5297091"/>
            <a:ext cx="1026795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15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White–red thread as a shared symbol students can understand together</a:t>
            </a:r>
            <a:endParaRPr lang="en-US" sz="1200" dirty="0"/>
          </a:p>
        </p:txBody>
      </p:sp>
      <p:sp>
        <p:nvSpPr>
          <p:cNvPr id="26" name="Text 8"/>
          <p:cNvSpPr/>
          <p:nvPr/>
        </p:nvSpPr>
        <p:spPr>
          <a:xfrm>
            <a:off x="571500" y="6381750"/>
            <a:ext cx="29022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Thread of Friendship: Bilingual Mărțișor</a:t>
            </a:r>
            <a:endParaRPr lang="en-US" sz="1000" dirty="0"/>
          </a:p>
        </p:txBody>
      </p:sp>
      <p:sp>
        <p:nvSpPr>
          <p:cNvPr id="27" name="Text 9"/>
          <p:cNvSpPr/>
          <p:nvPr/>
        </p:nvSpPr>
        <p:spPr>
          <a:xfrm>
            <a:off x="11458575" y="6381750"/>
            <a:ext cx="1781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475" y="371475"/>
            <a:ext cx="1238250" cy="12382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2275" y="5248275"/>
            <a:ext cx="1238250" cy="1238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975" y="1285875"/>
            <a:ext cx="781050" cy="76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2676525"/>
            <a:ext cx="6315075" cy="22669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075" y="2667000"/>
            <a:ext cx="342900" cy="39052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0075" y="3409950"/>
            <a:ext cx="342900" cy="39052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0075" y="3886200"/>
            <a:ext cx="34290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0075" y="4629150"/>
            <a:ext cx="342900" cy="39052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91375" y="1457325"/>
            <a:ext cx="4552950" cy="1676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91375" y="2943225"/>
            <a:ext cx="4552950" cy="1676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91375" y="4429125"/>
            <a:ext cx="4552950" cy="1828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1975" y="6257925"/>
            <a:ext cx="11068050" cy="3810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571500" y="571500"/>
            <a:ext cx="121539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C14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Legend of Mărțișor</a:t>
            </a:r>
            <a:endParaRPr lang="en-US" sz="3400" dirty="0"/>
          </a:p>
        </p:txBody>
      </p:sp>
      <p:sp>
        <p:nvSpPr>
          <p:cNvPr id="17" name="Text 1"/>
          <p:cNvSpPr/>
          <p:nvPr/>
        </p:nvSpPr>
        <p:spPr>
          <a:xfrm>
            <a:off x="1066800" y="2688431"/>
            <a:ext cx="6546309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14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1)</a:t>
            </a:r>
            <a:r>
              <a:rPr lang="en-US" sz="1200" dirty="0">
                <a:solidFill>
                  <a:srgbClr val="1615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March 1st: Spring goes to the forest edge and sees a small snowdrop under the snow.</a:t>
            </a:r>
            <a:endParaRPr lang="en-US" sz="1400" dirty="0"/>
          </a:p>
        </p:txBody>
      </p:sp>
      <p:sp>
        <p:nvSpPr>
          <p:cNvPr id="18" name="Text 2"/>
          <p:cNvSpPr/>
          <p:nvPr/>
        </p:nvSpPr>
        <p:spPr>
          <a:xfrm>
            <a:off x="1066800" y="3436144"/>
            <a:ext cx="6546309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14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2)</a:t>
            </a:r>
            <a:r>
              <a:rPr lang="en-US" sz="1200" dirty="0">
                <a:solidFill>
                  <a:srgbClr val="1615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Winter gets angry and sends a strong blizzard to destroy the flower.</a:t>
            </a:r>
            <a:endParaRPr lang="en-US" sz="1400" dirty="0"/>
          </a:p>
        </p:txBody>
      </p:sp>
      <p:sp>
        <p:nvSpPr>
          <p:cNvPr id="19" name="Text 3"/>
          <p:cNvSpPr/>
          <p:nvPr/>
        </p:nvSpPr>
        <p:spPr>
          <a:xfrm>
            <a:off x="1066800" y="3905250"/>
            <a:ext cx="6546309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14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3)</a:t>
            </a:r>
            <a:r>
              <a:rPr lang="en-US" sz="1200" dirty="0">
                <a:solidFill>
                  <a:srgbClr val="1615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Spring protects the snowdrop, hurts her finger; a warm drop of blood falls and saves the flower.</a:t>
            </a:r>
            <a:endParaRPr lang="en-US" sz="1400" dirty="0"/>
          </a:p>
        </p:txBody>
      </p:sp>
      <p:sp>
        <p:nvSpPr>
          <p:cNvPr id="20" name="Text 4"/>
          <p:cNvSpPr/>
          <p:nvPr/>
        </p:nvSpPr>
        <p:spPr>
          <a:xfrm>
            <a:off x="1066800" y="4652963"/>
            <a:ext cx="6546309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14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5)</a:t>
            </a:r>
            <a:r>
              <a:rPr lang="en-US" sz="1200" dirty="0">
                <a:solidFill>
                  <a:srgbClr val="1615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We wear the red-white thread as a symbol of good over evil and friendship.</a:t>
            </a:r>
            <a:endParaRPr lang="en-US" sz="1400" dirty="0"/>
          </a:p>
        </p:txBody>
      </p:sp>
      <p:sp>
        <p:nvSpPr>
          <p:cNvPr id="21" name="Text 5"/>
          <p:cNvSpPr/>
          <p:nvPr/>
        </p:nvSpPr>
        <p:spPr>
          <a:xfrm>
            <a:off x="7551390" y="4781550"/>
            <a:ext cx="42245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14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4) Meaning of the colors:</a:t>
            </a:r>
            <a:endParaRPr lang="en-US" sz="1400" dirty="0"/>
          </a:p>
        </p:txBody>
      </p:sp>
      <p:sp>
        <p:nvSpPr>
          <p:cNvPr id="22" name="Text 6"/>
          <p:cNvSpPr/>
          <p:nvPr/>
        </p:nvSpPr>
        <p:spPr>
          <a:xfrm>
            <a:off x="7551390" y="5181600"/>
            <a:ext cx="733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14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400" dirty="0"/>
          </a:p>
        </p:txBody>
      </p:sp>
      <p:sp>
        <p:nvSpPr>
          <p:cNvPr id="23" name="Text 7"/>
          <p:cNvSpPr/>
          <p:nvPr/>
        </p:nvSpPr>
        <p:spPr>
          <a:xfrm>
            <a:off x="7732365" y="5162550"/>
            <a:ext cx="229457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15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White</a:t>
            </a:r>
            <a:r>
              <a:rPr lang="en-US" sz="1100" dirty="0">
                <a:solidFill>
                  <a:srgbClr val="1615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= purity of the snowdrop</a:t>
            </a:r>
            <a:endParaRPr lang="en-US" sz="1100" dirty="0"/>
          </a:p>
        </p:txBody>
      </p:sp>
      <p:sp>
        <p:nvSpPr>
          <p:cNvPr id="24" name="Text 8"/>
          <p:cNvSpPr/>
          <p:nvPr/>
        </p:nvSpPr>
        <p:spPr>
          <a:xfrm>
            <a:off x="7551390" y="5543550"/>
            <a:ext cx="733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14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400" dirty="0"/>
          </a:p>
        </p:txBody>
      </p:sp>
      <p:sp>
        <p:nvSpPr>
          <p:cNvPr id="25" name="Text 9"/>
          <p:cNvSpPr/>
          <p:nvPr/>
        </p:nvSpPr>
        <p:spPr>
          <a:xfrm>
            <a:off x="7732365" y="5524500"/>
            <a:ext cx="247269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14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</a:t>
            </a:r>
            <a:r>
              <a:rPr lang="en-US" sz="1100" dirty="0">
                <a:solidFill>
                  <a:srgbClr val="1615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= love and sacrifice of Spring</a:t>
            </a:r>
            <a:endParaRPr lang="en-US" sz="1100" dirty="0"/>
          </a:p>
        </p:txBody>
      </p:sp>
      <p:sp>
        <p:nvSpPr>
          <p:cNvPr id="26" name="Text 10"/>
          <p:cNvSpPr/>
          <p:nvPr/>
        </p:nvSpPr>
        <p:spPr>
          <a:xfrm>
            <a:off x="571500" y="6438900"/>
            <a:ext cx="29022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14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Thread of Friendship: Bilingual Mărțișor</a:t>
            </a:r>
            <a:endParaRPr lang="en-US" sz="1000" dirty="0"/>
          </a:p>
        </p:txBody>
      </p:sp>
      <p:sp>
        <p:nvSpPr>
          <p:cNvPr id="27" name="Text 11"/>
          <p:cNvSpPr/>
          <p:nvPr/>
        </p:nvSpPr>
        <p:spPr>
          <a:xfrm>
            <a:off x="11458575" y="6438900"/>
            <a:ext cx="1781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14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5" y="5248275"/>
            <a:ext cx="1238250" cy="12382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0963275" y="295275"/>
            <a:ext cx="933450" cy="9334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7324725" cy="6858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05175" y="1943100"/>
            <a:ext cx="3448050" cy="7429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5175" y="2819400"/>
            <a:ext cx="3448050" cy="12001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05175" y="4143375"/>
            <a:ext cx="3448050" cy="120967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05175" y="5476875"/>
            <a:ext cx="3448050" cy="92392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05675" y="0"/>
            <a:ext cx="4886325" cy="6858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1975" y="6210300"/>
            <a:ext cx="11068050" cy="371475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571500" y="571500"/>
            <a:ext cx="6789420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C14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Creative </a:t>
            </a:r>
            <a:r>
              <a:rPr lang="en-US" sz="3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3400" b="1" i="1" dirty="0">
                <a:solidFill>
                  <a:srgbClr val="1615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Workshop</a:t>
            </a:r>
            <a:endParaRPr lang="en-US" sz="3400" dirty="0"/>
          </a:p>
        </p:txBody>
      </p:sp>
      <p:sp>
        <p:nvSpPr>
          <p:cNvPr id="14" name="Text 1"/>
          <p:cNvSpPr/>
          <p:nvPr/>
        </p:nvSpPr>
        <p:spPr>
          <a:xfrm>
            <a:off x="571500" y="1228725"/>
            <a:ext cx="67894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DC14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(30 min)</a:t>
            </a:r>
            <a:endParaRPr lang="en-US" sz="2100" dirty="0"/>
          </a:p>
        </p:txBody>
      </p:sp>
      <p:pic>
        <p:nvPicPr>
          <p:cNvPr id="15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1975" y="1943100"/>
            <a:ext cx="1000125" cy="419100"/>
          </a:xfrm>
          <a:prstGeom prst="rect">
            <a:avLst/>
          </a:prstGeom>
        </p:spPr>
      </p:pic>
      <p:sp>
        <p:nvSpPr>
          <p:cNvPr id="16" name="Text 2"/>
          <p:cNvSpPr/>
          <p:nvPr/>
        </p:nvSpPr>
        <p:spPr>
          <a:xfrm>
            <a:off x="571500" y="1952625"/>
            <a:ext cx="107918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C14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Materials</a:t>
            </a:r>
            <a:endParaRPr lang="en-US" sz="1700" dirty="0"/>
          </a:p>
        </p:txBody>
      </p:sp>
      <p:sp>
        <p:nvSpPr>
          <p:cNvPr id="17" name="Text 3"/>
          <p:cNvSpPr/>
          <p:nvPr/>
        </p:nvSpPr>
        <p:spPr>
          <a:xfrm>
            <a:off x="571500" y="2543175"/>
            <a:ext cx="628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14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100" dirty="0"/>
          </a:p>
        </p:txBody>
      </p:sp>
      <p:sp>
        <p:nvSpPr>
          <p:cNvPr id="18" name="Text 4"/>
          <p:cNvSpPr/>
          <p:nvPr/>
        </p:nvSpPr>
        <p:spPr>
          <a:xfrm>
            <a:off x="742950" y="2505075"/>
            <a:ext cx="129921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White-red cord</a:t>
            </a:r>
            <a:endParaRPr lang="en-US" sz="1200" dirty="0"/>
          </a:p>
        </p:txBody>
      </p:sp>
      <p:sp>
        <p:nvSpPr>
          <p:cNvPr id="19" name="Text 5"/>
          <p:cNvSpPr/>
          <p:nvPr/>
        </p:nvSpPr>
        <p:spPr>
          <a:xfrm>
            <a:off x="571500" y="2974181"/>
            <a:ext cx="628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14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100" dirty="0"/>
          </a:p>
        </p:txBody>
      </p:sp>
      <p:sp>
        <p:nvSpPr>
          <p:cNvPr id="20" name="Text 6"/>
          <p:cNvSpPr/>
          <p:nvPr/>
        </p:nvSpPr>
        <p:spPr>
          <a:xfrm>
            <a:off x="742950" y="2936081"/>
            <a:ext cx="142494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White cardboard</a:t>
            </a:r>
            <a:endParaRPr lang="en-US" sz="1200" dirty="0"/>
          </a:p>
        </p:txBody>
      </p:sp>
      <p:sp>
        <p:nvSpPr>
          <p:cNvPr id="21" name="Text 7"/>
          <p:cNvSpPr/>
          <p:nvPr/>
        </p:nvSpPr>
        <p:spPr>
          <a:xfrm>
            <a:off x="571500" y="3405188"/>
            <a:ext cx="628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14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100" dirty="0"/>
          </a:p>
        </p:txBody>
      </p:sp>
      <p:sp>
        <p:nvSpPr>
          <p:cNvPr id="22" name="Text 8"/>
          <p:cNvSpPr/>
          <p:nvPr/>
        </p:nvSpPr>
        <p:spPr>
          <a:xfrm>
            <a:off x="742950" y="3367088"/>
            <a:ext cx="701993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Markers</a:t>
            </a:r>
            <a:endParaRPr lang="en-US" sz="1200" dirty="0"/>
          </a:p>
        </p:txBody>
      </p:sp>
      <p:pic>
        <p:nvPicPr>
          <p:cNvPr id="23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4350" y="3810000"/>
            <a:ext cx="2400300" cy="1381125"/>
          </a:xfrm>
          <a:prstGeom prst="rect">
            <a:avLst/>
          </a:prstGeom>
        </p:spPr>
      </p:pic>
      <p:pic>
        <p:nvPicPr>
          <p:cNvPr id="24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76625" y="2114550"/>
            <a:ext cx="400050" cy="400050"/>
          </a:xfrm>
          <a:prstGeom prst="rect">
            <a:avLst/>
          </a:prstGeom>
        </p:spPr>
      </p:pic>
      <p:sp>
        <p:nvSpPr>
          <p:cNvPr id="25" name="Text 9"/>
          <p:cNvSpPr/>
          <p:nvPr/>
        </p:nvSpPr>
        <p:spPr>
          <a:xfrm>
            <a:off x="3486150" y="2124075"/>
            <a:ext cx="419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highlight>
                  <a:srgbClr val="DC143C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26" name="Text 10"/>
          <p:cNvSpPr/>
          <p:nvPr/>
        </p:nvSpPr>
        <p:spPr>
          <a:xfrm>
            <a:off x="4019550" y="2175272"/>
            <a:ext cx="184404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Cut a cardboard circle</a:t>
            </a:r>
            <a:endParaRPr lang="en-US" sz="1200" dirty="0"/>
          </a:p>
        </p:txBody>
      </p:sp>
      <p:pic>
        <p:nvPicPr>
          <p:cNvPr id="27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76625" y="3209925"/>
            <a:ext cx="400050" cy="409575"/>
          </a:xfrm>
          <a:prstGeom prst="rect">
            <a:avLst/>
          </a:prstGeom>
        </p:spPr>
      </p:pic>
      <p:sp>
        <p:nvSpPr>
          <p:cNvPr id="28" name="Text 11"/>
          <p:cNvSpPr/>
          <p:nvPr/>
        </p:nvSpPr>
        <p:spPr>
          <a:xfrm>
            <a:off x="3486150" y="3227784"/>
            <a:ext cx="419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highlight>
                  <a:srgbClr val="DC143C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29" name="Text 12"/>
          <p:cNvSpPr/>
          <p:nvPr/>
        </p:nvSpPr>
        <p:spPr>
          <a:xfrm>
            <a:off x="4019550" y="3000375"/>
            <a:ext cx="280797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Side A (Romanian): write a beautiful word (example: PRIETENIE)</a:t>
            </a:r>
            <a:endParaRPr lang="en-US" sz="1200" dirty="0"/>
          </a:p>
        </p:txBody>
      </p:sp>
      <p:pic>
        <p:nvPicPr>
          <p:cNvPr id="30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76625" y="4543425"/>
            <a:ext cx="400050" cy="409575"/>
          </a:xfrm>
          <a:prstGeom prst="rect">
            <a:avLst/>
          </a:prstGeom>
        </p:spPr>
      </p:pic>
      <p:sp>
        <p:nvSpPr>
          <p:cNvPr id="31" name="Text 13"/>
          <p:cNvSpPr/>
          <p:nvPr/>
        </p:nvSpPr>
        <p:spPr>
          <a:xfrm>
            <a:off x="3486150" y="4558903"/>
            <a:ext cx="419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highlight>
                  <a:srgbClr val="DC143C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14"/>
          <p:cNvSpPr/>
          <p:nvPr/>
        </p:nvSpPr>
        <p:spPr>
          <a:xfrm>
            <a:off x="4019550" y="4331494"/>
            <a:ext cx="280797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Side B (Czech): write the translation (example: PŘÁTELSTVÍ)</a:t>
            </a:r>
            <a:endParaRPr lang="en-US" sz="1200" dirty="0"/>
          </a:p>
        </p:txBody>
      </p:sp>
      <p:pic>
        <p:nvPicPr>
          <p:cNvPr id="33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76625" y="5734050"/>
            <a:ext cx="400050" cy="409575"/>
          </a:xfrm>
          <a:prstGeom prst="rect">
            <a:avLst/>
          </a:prstGeom>
        </p:spPr>
      </p:pic>
      <p:sp>
        <p:nvSpPr>
          <p:cNvPr id="34" name="Text 15"/>
          <p:cNvSpPr/>
          <p:nvPr/>
        </p:nvSpPr>
        <p:spPr>
          <a:xfrm>
            <a:off x="3486150" y="5750719"/>
            <a:ext cx="419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highlight>
                  <a:srgbClr val="DC143C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35" name="Text 16"/>
          <p:cNvSpPr/>
          <p:nvPr/>
        </p:nvSpPr>
        <p:spPr>
          <a:xfrm>
            <a:off x="4019550" y="5662613"/>
            <a:ext cx="280797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Attach the red-white cord to the bilingual circle</a:t>
            </a:r>
            <a:endParaRPr lang="en-US" sz="1200" dirty="0"/>
          </a:p>
        </p:txBody>
      </p:sp>
      <p:pic>
        <p:nvPicPr>
          <p:cNvPr id="36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572375" y="990600"/>
            <a:ext cx="4362450" cy="3019425"/>
          </a:xfrm>
          <a:prstGeom prst="rect">
            <a:avLst/>
          </a:prstGeom>
        </p:spPr>
      </p:pic>
      <p:pic>
        <p:nvPicPr>
          <p:cNvPr id="37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72375" y="3810000"/>
            <a:ext cx="4362450" cy="2638425"/>
          </a:xfrm>
          <a:prstGeom prst="rect">
            <a:avLst/>
          </a:prstGeom>
        </p:spPr>
      </p:pic>
      <p:sp>
        <p:nvSpPr>
          <p:cNvPr id="38" name="Text 17"/>
          <p:cNvSpPr/>
          <p:nvPr/>
        </p:nvSpPr>
        <p:spPr>
          <a:xfrm>
            <a:off x="571500" y="6381750"/>
            <a:ext cx="29022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14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Thread of Friendship: Bilingual Mărțișor</a:t>
            </a:r>
            <a:endParaRPr lang="en-US" sz="1000" dirty="0"/>
          </a:p>
        </p:txBody>
      </p:sp>
      <p:sp>
        <p:nvSpPr>
          <p:cNvPr id="39" name="Text 18"/>
          <p:cNvSpPr/>
          <p:nvPr/>
        </p:nvSpPr>
        <p:spPr>
          <a:xfrm>
            <a:off x="11477625" y="6381750"/>
            <a:ext cx="1571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14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2275" y="5248275"/>
            <a:ext cx="1238250" cy="12382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475" y="371475"/>
            <a:ext cx="933450" cy="9334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4886325" cy="6858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7275" y="0"/>
            <a:ext cx="7324725" cy="6858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38775" y="1571625"/>
            <a:ext cx="6191250" cy="117157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91150" y="3581400"/>
            <a:ext cx="2019300" cy="237172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24750" y="3581400"/>
            <a:ext cx="2019300" cy="237172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58350" y="3581400"/>
            <a:ext cx="2019300" cy="237172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1975" y="6210300"/>
            <a:ext cx="11068050" cy="37147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4825" y="942975"/>
            <a:ext cx="3867150" cy="2628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4825" y="3381375"/>
            <a:ext cx="3867150" cy="262890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5448300" y="622697"/>
            <a:ext cx="6789420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Symbol </a:t>
            </a:r>
            <a:r>
              <a:rPr lang="en-US" sz="3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3400" b="1" i="1" dirty="0">
                <a:solidFill>
                  <a:srgbClr val="1615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Action</a:t>
            </a:r>
            <a:endParaRPr lang="en-US" sz="3400" dirty="0"/>
          </a:p>
        </p:txBody>
      </p:sp>
      <p:sp>
        <p:nvSpPr>
          <p:cNvPr id="16" name="Text 1"/>
          <p:cNvSpPr/>
          <p:nvPr/>
        </p:nvSpPr>
        <p:spPr>
          <a:xfrm>
            <a:off x="5715000" y="1813322"/>
            <a:ext cx="624459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Anti-bullying message</a:t>
            </a:r>
            <a:endParaRPr lang="en-US" sz="1700" dirty="0"/>
          </a:p>
        </p:txBody>
      </p:sp>
      <p:sp>
        <p:nvSpPr>
          <p:cNvPr id="17" name="Text 2"/>
          <p:cNvSpPr/>
          <p:nvPr/>
        </p:nvSpPr>
        <p:spPr>
          <a:xfrm>
            <a:off x="5715000" y="2194322"/>
            <a:ext cx="6244590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Mărțișor = rebirth → we 'rebirth' as a community without bullying</a:t>
            </a:r>
            <a:endParaRPr lang="en-US" sz="1400" dirty="0"/>
          </a:p>
        </p:txBody>
      </p:sp>
      <p:sp>
        <p:nvSpPr>
          <p:cNvPr id="18" name="Text 3"/>
          <p:cNvSpPr/>
          <p:nvPr/>
        </p:nvSpPr>
        <p:spPr>
          <a:xfrm>
            <a:off x="5448300" y="3113484"/>
            <a:ext cx="67894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wrap-up: 'Virtual Spring Board' (Padlet/Jamboard)</a:t>
            </a:r>
            <a:endParaRPr lang="en-US" sz="1700" dirty="0"/>
          </a:p>
        </p:txBody>
      </p:sp>
      <p:pic>
        <p:nvPicPr>
          <p:cNvPr id="19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00700" y="3790950"/>
            <a:ext cx="571500" cy="619125"/>
          </a:xfrm>
          <a:prstGeom prst="rect">
            <a:avLst/>
          </a:prstGeom>
        </p:spPr>
      </p:pic>
      <p:sp>
        <p:nvSpPr>
          <p:cNvPr id="20" name="Text 4"/>
          <p:cNvSpPr/>
          <p:nvPr/>
        </p:nvSpPr>
        <p:spPr>
          <a:xfrm>
            <a:off x="5657850" y="385643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700" dirty="0"/>
          </a:p>
        </p:txBody>
      </p:sp>
      <p:sp>
        <p:nvSpPr>
          <p:cNvPr id="21" name="Text 5"/>
          <p:cNvSpPr/>
          <p:nvPr/>
        </p:nvSpPr>
        <p:spPr>
          <a:xfrm>
            <a:off x="5657850" y="4466034"/>
            <a:ext cx="1634490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 a photo with the created mărțișor</a:t>
            </a:r>
            <a:endParaRPr lang="en-US" sz="1200" dirty="0"/>
          </a:p>
        </p:txBody>
      </p:sp>
      <p:pic>
        <p:nvPicPr>
          <p:cNvPr id="22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34300" y="3790950"/>
            <a:ext cx="571500" cy="619125"/>
          </a:xfrm>
          <a:prstGeom prst="rect">
            <a:avLst/>
          </a:prstGeom>
        </p:spPr>
      </p:pic>
      <p:sp>
        <p:nvSpPr>
          <p:cNvPr id="23" name="Text 6"/>
          <p:cNvSpPr/>
          <p:nvPr/>
        </p:nvSpPr>
        <p:spPr>
          <a:xfrm>
            <a:off x="7791450" y="385643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700" dirty="0"/>
          </a:p>
        </p:txBody>
      </p:sp>
      <p:sp>
        <p:nvSpPr>
          <p:cNvPr id="24" name="Text 7"/>
          <p:cNvSpPr/>
          <p:nvPr/>
        </p:nvSpPr>
        <p:spPr>
          <a:xfrm>
            <a:off x="7791450" y="4466034"/>
            <a:ext cx="1634490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it to the board</a:t>
            </a:r>
            <a:endParaRPr lang="en-US" sz="1200" dirty="0"/>
          </a:p>
        </p:txBody>
      </p:sp>
      <p:pic>
        <p:nvPicPr>
          <p:cNvPr id="25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867900" y="3790950"/>
            <a:ext cx="571500" cy="619125"/>
          </a:xfrm>
          <a:prstGeom prst="rect">
            <a:avLst/>
          </a:prstGeom>
        </p:spPr>
      </p:pic>
      <p:sp>
        <p:nvSpPr>
          <p:cNvPr id="26" name="Text 8"/>
          <p:cNvSpPr/>
          <p:nvPr/>
        </p:nvSpPr>
        <p:spPr>
          <a:xfrm>
            <a:off x="9925050" y="385643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700" dirty="0"/>
          </a:p>
        </p:txBody>
      </p:sp>
      <p:sp>
        <p:nvSpPr>
          <p:cNvPr id="27" name="Text 9"/>
          <p:cNvSpPr/>
          <p:nvPr/>
        </p:nvSpPr>
        <p:spPr>
          <a:xfrm>
            <a:off x="9925050" y="4466034"/>
            <a:ext cx="1634490" cy="1178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the message: 'Společně proti šikaně!' (Together against bullying!)</a:t>
            </a:r>
            <a:endParaRPr lang="en-US" sz="1200" dirty="0"/>
          </a:p>
        </p:txBody>
      </p:sp>
      <p:sp>
        <p:nvSpPr>
          <p:cNvPr id="28" name="Text 10"/>
          <p:cNvSpPr/>
          <p:nvPr/>
        </p:nvSpPr>
        <p:spPr>
          <a:xfrm>
            <a:off x="571500" y="6381750"/>
            <a:ext cx="29022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Thread of Friendship: Bilingual Mărțișor</a:t>
            </a:r>
            <a:endParaRPr lang="en-US" sz="1000" dirty="0"/>
          </a:p>
        </p:txBody>
      </p:sp>
      <p:sp>
        <p:nvSpPr>
          <p:cNvPr id="29" name="Text 11"/>
          <p:cNvSpPr/>
          <p:nvPr/>
        </p:nvSpPr>
        <p:spPr>
          <a:xfrm>
            <a:off x="11458575" y="6381750"/>
            <a:ext cx="1781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6475" y="752475"/>
            <a:ext cx="781050" cy="7810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4475" y="4714875"/>
            <a:ext cx="933450" cy="9334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350" y="1247775"/>
            <a:ext cx="876300" cy="2095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3475" y="1466850"/>
            <a:ext cx="9925050" cy="51244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7775" y="1590675"/>
            <a:ext cx="9696450" cy="1104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62075" y="2457450"/>
            <a:ext cx="9467850" cy="762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62075" y="3200400"/>
            <a:ext cx="9467850" cy="762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62075" y="3943350"/>
            <a:ext cx="9467850" cy="762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62075" y="4686300"/>
            <a:ext cx="9467850" cy="762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62075" y="5429250"/>
            <a:ext cx="9467850" cy="7429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1975" y="6419850"/>
            <a:ext cx="11068050" cy="3810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571500" y="571500"/>
            <a:ext cx="21374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Words of</a:t>
            </a:r>
            <a:endParaRPr lang="en-US" sz="3400" dirty="0"/>
          </a:p>
        </p:txBody>
      </p:sp>
      <p:sp>
        <p:nvSpPr>
          <p:cNvPr id="20" name="Text 1"/>
          <p:cNvSpPr/>
          <p:nvPr/>
        </p:nvSpPr>
        <p:spPr>
          <a:xfrm>
            <a:off x="2514600" y="581025"/>
            <a:ext cx="280035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i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Friendship</a:t>
            </a:r>
            <a:endParaRPr lang="en-US" sz="3400" dirty="0"/>
          </a:p>
        </p:txBody>
      </p:sp>
      <p:sp>
        <p:nvSpPr>
          <p:cNvPr id="21" name="Text 2"/>
          <p:cNvSpPr/>
          <p:nvPr/>
        </p:nvSpPr>
        <p:spPr>
          <a:xfrm>
            <a:off x="5086350" y="742950"/>
            <a:ext cx="13620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(Bilingual)</a:t>
            </a:r>
            <a:endParaRPr lang="en-US" sz="2100" dirty="0"/>
          </a:p>
        </p:txBody>
      </p:sp>
      <p:sp>
        <p:nvSpPr>
          <p:cNvPr id="22" name="Text 3"/>
          <p:cNvSpPr/>
          <p:nvPr/>
        </p:nvSpPr>
        <p:spPr>
          <a:xfrm>
            <a:off x="1752600" y="1933575"/>
            <a:ext cx="312917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Romanian</a:t>
            </a:r>
            <a:endParaRPr lang="en-US" sz="1700" dirty="0"/>
          </a:p>
        </p:txBody>
      </p:sp>
      <p:sp>
        <p:nvSpPr>
          <p:cNvPr id="23" name="Text 4"/>
          <p:cNvSpPr/>
          <p:nvPr/>
        </p:nvSpPr>
        <p:spPr>
          <a:xfrm>
            <a:off x="4749701" y="1933575"/>
            <a:ext cx="312933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Czech</a:t>
            </a:r>
            <a:endParaRPr lang="en-US" sz="1700" dirty="0"/>
          </a:p>
        </p:txBody>
      </p:sp>
      <p:sp>
        <p:nvSpPr>
          <p:cNvPr id="24" name="Text 5"/>
          <p:cNvSpPr/>
          <p:nvPr/>
        </p:nvSpPr>
        <p:spPr>
          <a:xfrm>
            <a:off x="7746950" y="1933575"/>
            <a:ext cx="312917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Pronunciation</a:t>
            </a:r>
            <a:endParaRPr lang="en-US" sz="1700" dirty="0"/>
          </a:p>
        </p:txBody>
      </p:sp>
      <p:sp>
        <p:nvSpPr>
          <p:cNvPr id="25" name="Text 6"/>
          <p:cNvSpPr/>
          <p:nvPr/>
        </p:nvSpPr>
        <p:spPr>
          <a:xfrm>
            <a:off x="1752600" y="2695575"/>
            <a:ext cx="31291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BUNĂTATE</a:t>
            </a:r>
            <a:endParaRPr lang="en-US" sz="1400" dirty="0"/>
          </a:p>
        </p:txBody>
      </p:sp>
      <p:sp>
        <p:nvSpPr>
          <p:cNvPr id="26" name="Text 7"/>
          <p:cNvSpPr/>
          <p:nvPr/>
        </p:nvSpPr>
        <p:spPr>
          <a:xfrm>
            <a:off x="4749701" y="2695575"/>
            <a:ext cx="31293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5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LASKAVOST</a:t>
            </a:r>
            <a:endParaRPr lang="en-US" sz="1400" dirty="0"/>
          </a:p>
        </p:txBody>
      </p:sp>
      <p:sp>
        <p:nvSpPr>
          <p:cNvPr id="27" name="Text 8"/>
          <p:cNvSpPr/>
          <p:nvPr/>
        </p:nvSpPr>
        <p:spPr>
          <a:xfrm>
            <a:off x="7746950" y="2695575"/>
            <a:ext cx="31291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(Las-ka-vost)</a:t>
            </a:r>
            <a:endParaRPr lang="en-US" sz="1400" dirty="0"/>
          </a:p>
        </p:txBody>
      </p:sp>
      <p:sp>
        <p:nvSpPr>
          <p:cNvPr id="28" name="Text 9"/>
          <p:cNvSpPr/>
          <p:nvPr/>
        </p:nvSpPr>
        <p:spPr>
          <a:xfrm>
            <a:off x="1752600" y="3438525"/>
            <a:ext cx="31291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PACE</a:t>
            </a:r>
            <a:endParaRPr lang="en-US" sz="1400" dirty="0"/>
          </a:p>
        </p:txBody>
      </p:sp>
      <p:sp>
        <p:nvSpPr>
          <p:cNvPr id="29" name="Text 10"/>
          <p:cNvSpPr/>
          <p:nvPr/>
        </p:nvSpPr>
        <p:spPr>
          <a:xfrm>
            <a:off x="4749701" y="3438525"/>
            <a:ext cx="31293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5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MÍR</a:t>
            </a:r>
            <a:endParaRPr lang="en-US" sz="1400" dirty="0"/>
          </a:p>
        </p:txBody>
      </p:sp>
      <p:sp>
        <p:nvSpPr>
          <p:cNvPr id="30" name="Text 11"/>
          <p:cNvSpPr/>
          <p:nvPr/>
        </p:nvSpPr>
        <p:spPr>
          <a:xfrm>
            <a:off x="7746950" y="3438525"/>
            <a:ext cx="31291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(Mir)</a:t>
            </a:r>
            <a:endParaRPr lang="en-US" sz="1400" dirty="0"/>
          </a:p>
        </p:txBody>
      </p:sp>
      <p:sp>
        <p:nvSpPr>
          <p:cNvPr id="31" name="Text 12"/>
          <p:cNvSpPr/>
          <p:nvPr/>
        </p:nvSpPr>
        <p:spPr>
          <a:xfrm>
            <a:off x="1752600" y="4181475"/>
            <a:ext cx="31291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RESPECT</a:t>
            </a:r>
            <a:endParaRPr lang="en-US" sz="1400" dirty="0"/>
          </a:p>
        </p:txBody>
      </p:sp>
      <p:sp>
        <p:nvSpPr>
          <p:cNvPr id="32" name="Text 13"/>
          <p:cNvSpPr/>
          <p:nvPr/>
        </p:nvSpPr>
        <p:spPr>
          <a:xfrm>
            <a:off x="4749701" y="4181475"/>
            <a:ext cx="31293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5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ÚCTA</a:t>
            </a:r>
            <a:endParaRPr lang="en-US" sz="1400" dirty="0"/>
          </a:p>
        </p:txBody>
      </p:sp>
      <p:sp>
        <p:nvSpPr>
          <p:cNvPr id="33" name="Text 14"/>
          <p:cNvSpPr/>
          <p:nvPr/>
        </p:nvSpPr>
        <p:spPr>
          <a:xfrm>
            <a:off x="7746950" y="4181475"/>
            <a:ext cx="31291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(U-țta)</a:t>
            </a:r>
            <a:endParaRPr lang="en-US" sz="1400" dirty="0"/>
          </a:p>
        </p:txBody>
      </p:sp>
      <p:sp>
        <p:nvSpPr>
          <p:cNvPr id="34" name="Text 15"/>
          <p:cNvSpPr/>
          <p:nvPr/>
        </p:nvSpPr>
        <p:spPr>
          <a:xfrm>
            <a:off x="1752600" y="4924425"/>
            <a:ext cx="31291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ZÂMBET</a:t>
            </a:r>
            <a:endParaRPr lang="en-US" sz="1400" dirty="0"/>
          </a:p>
        </p:txBody>
      </p:sp>
      <p:sp>
        <p:nvSpPr>
          <p:cNvPr id="35" name="Text 16"/>
          <p:cNvSpPr/>
          <p:nvPr/>
        </p:nvSpPr>
        <p:spPr>
          <a:xfrm>
            <a:off x="4749701" y="4924425"/>
            <a:ext cx="31293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5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ÚSMĚV</a:t>
            </a:r>
            <a:endParaRPr lang="en-US" sz="1400" dirty="0"/>
          </a:p>
        </p:txBody>
      </p:sp>
      <p:sp>
        <p:nvSpPr>
          <p:cNvPr id="36" name="Text 17"/>
          <p:cNvSpPr/>
          <p:nvPr/>
        </p:nvSpPr>
        <p:spPr>
          <a:xfrm>
            <a:off x="7746950" y="4924425"/>
            <a:ext cx="31291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(U-smiev)</a:t>
            </a:r>
            <a:endParaRPr lang="en-US" sz="1400" dirty="0"/>
          </a:p>
        </p:txBody>
      </p:sp>
      <p:sp>
        <p:nvSpPr>
          <p:cNvPr id="37" name="Text 18"/>
          <p:cNvSpPr/>
          <p:nvPr/>
        </p:nvSpPr>
        <p:spPr>
          <a:xfrm>
            <a:off x="1752600" y="5667375"/>
            <a:ext cx="31291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AJUTOR</a:t>
            </a:r>
            <a:endParaRPr lang="en-US" sz="1400" dirty="0"/>
          </a:p>
        </p:txBody>
      </p:sp>
      <p:sp>
        <p:nvSpPr>
          <p:cNvPr id="38" name="Text 19"/>
          <p:cNvSpPr/>
          <p:nvPr/>
        </p:nvSpPr>
        <p:spPr>
          <a:xfrm>
            <a:off x="4749701" y="5667375"/>
            <a:ext cx="31293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5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POMOC</a:t>
            </a:r>
            <a:endParaRPr lang="en-US" sz="1400" dirty="0"/>
          </a:p>
        </p:txBody>
      </p:sp>
      <p:sp>
        <p:nvSpPr>
          <p:cNvPr id="39" name="Text 20"/>
          <p:cNvSpPr/>
          <p:nvPr/>
        </p:nvSpPr>
        <p:spPr>
          <a:xfrm>
            <a:off x="7746950" y="5667375"/>
            <a:ext cx="31291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(Po-moț)</a:t>
            </a:r>
            <a:endParaRPr lang="en-US" sz="1400" dirty="0"/>
          </a:p>
        </p:txBody>
      </p:sp>
      <p:sp>
        <p:nvSpPr>
          <p:cNvPr id="40" name="Text 21"/>
          <p:cNvSpPr/>
          <p:nvPr/>
        </p:nvSpPr>
        <p:spPr>
          <a:xfrm>
            <a:off x="571500" y="6600825"/>
            <a:ext cx="29022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Thread of Friendship: Bilingual Mărțișor</a:t>
            </a:r>
            <a:endParaRPr lang="en-US" sz="1000" dirty="0"/>
          </a:p>
        </p:txBody>
      </p:sp>
      <p:sp>
        <p:nvSpPr>
          <p:cNvPr id="41" name="Text 22"/>
          <p:cNvSpPr/>
          <p:nvPr/>
        </p:nvSpPr>
        <p:spPr>
          <a:xfrm>
            <a:off x="11458575" y="6600825"/>
            <a:ext cx="1781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9275" y="676275"/>
            <a:ext cx="2762250" cy="27622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5675" y="2847975"/>
            <a:ext cx="3676650" cy="36766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2075" y="2733675"/>
            <a:ext cx="2152650" cy="21526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28875" y="4105275"/>
            <a:ext cx="2457450" cy="24574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2025" y="533400"/>
            <a:ext cx="1171575" cy="117157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58400" y="533400"/>
            <a:ext cx="1171575" cy="117157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2025" y="5153025"/>
            <a:ext cx="1171575" cy="117157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58400" y="5153025"/>
            <a:ext cx="1171575" cy="117157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>
            <a:alphaModFix amt="20000"/>
          </a:blip>
          <a:stretch>
            <a:fillRect/>
          </a:stretch>
        </p:blipFill>
        <p:spPr>
          <a:xfrm>
            <a:off x="3705225" y="4181475"/>
            <a:ext cx="4781550" cy="267652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57750" y="2867025"/>
            <a:ext cx="2466975" cy="9525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3830836" y="1733550"/>
            <a:ext cx="498319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DC14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15" name="Text 1"/>
          <p:cNvSpPr/>
          <p:nvPr/>
        </p:nvSpPr>
        <p:spPr>
          <a:xfrm>
            <a:off x="3955554" y="3409950"/>
            <a:ext cx="470865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C41E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Together against bullying!</a:t>
            </a:r>
            <a:endParaRPr lang="en-US" sz="2500" dirty="0"/>
          </a:p>
        </p:txBody>
      </p:sp>
      <p:sp>
        <p:nvSpPr>
          <p:cNvPr id="16" name="Text 2"/>
          <p:cNvSpPr/>
          <p:nvPr/>
        </p:nvSpPr>
        <p:spPr>
          <a:xfrm>
            <a:off x="3955554" y="3981450"/>
            <a:ext cx="470865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C41E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Společně proti šikaně!</a:t>
            </a:r>
            <a:endParaRPr lang="en-US" sz="2500" dirty="0"/>
          </a:p>
        </p:txBody>
      </p:sp>
      <p:sp>
        <p:nvSpPr>
          <p:cNvPr id="17" name="Text 3"/>
          <p:cNvSpPr/>
          <p:nvPr/>
        </p:nvSpPr>
        <p:spPr>
          <a:xfrm>
            <a:off x="5086201" y="4667250"/>
            <a:ext cx="628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DC14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❤️</a:t>
            </a:r>
            <a:endParaRPr lang="en-US" sz="3400" dirty="0"/>
          </a:p>
        </p:txBody>
      </p:sp>
      <p:sp>
        <p:nvSpPr>
          <p:cNvPr id="18" name="Text 4"/>
          <p:cNvSpPr/>
          <p:nvPr/>
        </p:nvSpPr>
        <p:spPr>
          <a:xfrm>
            <a:off x="5810101" y="4667250"/>
            <a:ext cx="628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❤️</a:t>
            </a:r>
            <a:endParaRPr lang="en-US" sz="3400" dirty="0"/>
          </a:p>
        </p:txBody>
      </p:sp>
      <p:sp>
        <p:nvSpPr>
          <p:cNvPr id="19" name="Text 5"/>
          <p:cNvSpPr/>
          <p:nvPr/>
        </p:nvSpPr>
        <p:spPr>
          <a:xfrm>
            <a:off x="6534001" y="4667250"/>
            <a:ext cx="628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DC14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❤️</a:t>
            </a:r>
            <a:endParaRPr lang="en-US" sz="3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677</Words>
  <Application>Microsoft Office PowerPoint</Application>
  <PresentationFormat>Widescreen</PresentationFormat>
  <Paragraphs>157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Arial Rounded MT Bold</vt:lpstr>
      <vt:lpstr>Calibri</vt:lpstr>
      <vt:lpstr>Georgia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dokie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PptxGenJS Presentation</dc:subject>
  <dc:creator>dokie</dc:creator>
  <cp:lastModifiedBy>Victoria Buga</cp:lastModifiedBy>
  <cp:revision>3</cp:revision>
  <dcterms:created xsi:type="dcterms:W3CDTF">2026-03-09T13:57:53Z</dcterms:created>
  <dcterms:modified xsi:type="dcterms:W3CDTF">2026-06-09T12:27:01Z</dcterms:modified>
</cp:coreProperties>
</file>